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2a5bee2c13426a" /><Relationship Type="http://schemas.openxmlformats.org/officeDocument/2006/relationships/extended-properties" Target="/docProps/app.xml" Id="R271b756e981d4461" /><Relationship Type="http://schemas.openxmlformats.org/officeDocument/2006/relationships/officeDocument" Target="/ppt/presentation.xml" Id="R05797098a35a446f" /></Relationships>
</file>

<file path=ppt/presentation.xml><?xml version="1.0" encoding="utf-8"?>
<p:presentation xmlns:p="http://schemas.openxmlformats.org/presentationml/2006/main">
  <p:sldMasterIdLst>
    <p:sldMasterId xmlns:r="http://schemas.openxmlformats.org/officeDocument/2006/relationships" id="2147483648" r:id="R935390be1be64a6f"/>
  </p:sldMasterIdLst>
  <p:notesMasterIdLst>
    <p:notesMasterId xmlns:r="http://schemas.openxmlformats.org/officeDocument/2006/relationships" r:id="R0df7b83a7dff4bf0"/>
  </p:notesMasterIdLst>
  <p:sldIdLst>
    <p:sldId xmlns:r="http://schemas.openxmlformats.org/officeDocument/2006/relationships" id="256" r:id="Rb760542629ae435c"/>
    <p:sldId xmlns:r="http://schemas.openxmlformats.org/officeDocument/2006/relationships" id="257" r:id="R6af53027222b48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3683c10cd4f31" /><Relationship Type="http://schemas.openxmlformats.org/officeDocument/2006/relationships/slideMaster" Target="/ppt/slideMasters/slideMaster1.xml" Id="R935390be1be64a6f" /><Relationship Type="http://schemas.openxmlformats.org/officeDocument/2006/relationships/notesMaster" Target="/ppt/notesMasters/notesMaster1.xml" Id="R0df7b83a7dff4bf0" /><Relationship Type="http://schemas.openxmlformats.org/officeDocument/2006/relationships/presProps" Target="/ppt/presProps.xml" Id="R44a7147ab53a4e95" /><Relationship Type="http://schemas.openxmlformats.org/officeDocument/2006/relationships/tableStyles" Target="/ppt/tableStyles.xml" Id="R3beaa7aa600c4036" /><Relationship Type="http://schemas.openxmlformats.org/officeDocument/2006/relationships/slide" Target="/ppt/slides/slide1.xml" Id="Rb760542629ae435c" /><Relationship Type="http://schemas.openxmlformats.org/officeDocument/2006/relationships/slide" Target="/ppt/slides/slide2.xml" Id="R6af53027222b48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56bec2e7854e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08b65bb6e84087" /><Relationship Type="http://schemas.openxmlformats.org/officeDocument/2006/relationships/notesMaster" Target="/ppt/notesMasters/notesMaster1.xml" Id="R570c3dfd79324a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66ce3d85b473d" /><Relationship Type="http://schemas.openxmlformats.org/officeDocument/2006/relationships/notesMaster" Target="/ppt/notesMasters/notesMaster1.xml" Id="R65283dbba3e847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약 65초</a:t>
            </a:r>
          </a:p>
          <a:p xmlns:a="http://schemas.openxmlformats.org/drawingml/2006/main">
            <a:r>
              <a:t>저희 연구는 불규칙하게 영상 프레임이 누락되는 상황에서, SAM 2.1이 참고할 과거 메모리를 더 잘 선택하는 방법입니다. SAM은 과거 영상과 마스크 정보를 이용해 현재 객체를 분할합니다. 그런데 프레임이 누락되고 촬영 차량이 움직이면, 최근 프레임이 현재와 가장 비슷한 시야라는 보장이 없습니다.</a:t>
            </a:r>
          </a:p>
          <a:p xmlns:a="http://schemas.openxmlformats.org/drawingml/2006/main">
            <a:r>
              <a:t>기존 연구에서는 카메라와 LiDAR를 결합하거나 3차원 메모리를 만들고, 메모리를 줄이거나 시간 간격을 조절하는 접근을 사용했습니다. 저희는 기존 모델의 메모리 일곱 칸과 추론 횟수를 유지하면서, 카메라 위치와 방향, 실제 경과시간을 이용해 어떤 과거 프레임을 넣을지 바꿉니다. 불규칙 누락 환경에서 이 선택 규칙이 정확도와 회복성을 개선하는지, 자세와 시간이 각각 얼마나 기여하는지를 확인하는 것이 연구의 초점입니다.</a:t>
            </a:r>
          </a:p>
          <a:p xmlns:a="http://schemas.openxmlformats.org/drawingml/2006/main">
            <a:r>
              <a:t/>
            </a:r>
          </a:p>
          <a:p xmlns:a="http://schemas.openxmlformats.org/drawingml/2006/main">
            <a:r>
              <a:t>출처</a:t>
            </a:r>
          </a:p>
          <a:p xmlns:a="http://schemas.openxmlformats.org/drawingml/2006/main">
            <a:r>
              <a:t>최종 계획서: https://docs.google.com/document/d/1Telv7yFbf1a1D3gyKOevr1jM_yfBmk27YgC0010ZA5E/edit?tab=t.5i9fhfz6vfi1</a:t>
            </a:r>
          </a:p>
          <a:p xmlns:a="http://schemas.openxmlformats.org/drawingml/2006/main">
            <a:r>
              <a:t>상세 설계: 같은 문서의 t.2djdeb6v7msy 탭</a:t>
            </a:r>
          </a:p>
          <a:p xmlns:a="http://schemas.openxmlformats.org/drawingml/2006/main">
            <a:r>
              <a:t>SAM4D: https://arxiv.org/abs/2506.21547</a:t>
            </a:r>
          </a:p>
          <a:p xmlns:a="http://schemas.openxmlformats.org/drawingml/2006/main">
            <a:r>
              <a:t>SAM2-Splat: https://arxiv.org/abs/2510.23521</a:t>
            </a:r>
          </a:p>
          <a:p xmlns:a="http://schemas.openxmlformats.org/drawingml/2006/main">
            <a:r>
              <a:t>Seg2Track-SAM2: https://arxiv.org/abs/2509.11772</a:t>
            </a:r>
          </a:p>
          <a:p xmlns:a="http://schemas.openxmlformats.org/drawingml/2006/main">
            <a:r>
              <a:t>TSMS-SAM2: https://arxiv.org/abs/2508.05829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약 100초</a:t>
            </a:r>
          </a:p>
          <a:p xmlns:a="http://schemas.openxmlformats.org/drawingml/2006/main">
            <a:r>
              <a:t>과거 후보 서른두 개에서 실제로 참고할 메모리는 일곱 개입니다. 최초 프롬프트와 가장 최근 메모리 두 개는 유지하고 나머지 다섯 개만 선택합니다. 일곱은 공식 모델의 기본값이고, 서른둘은 최적값이 아니라 검증할 초기값입니다.</a:t>
            </a:r>
          </a:p>
          <a:p xmlns:a="http://schemas.openxmlformats.org/drawingml/2006/main">
            <a:r>
              <a:t>pose는 대상 차량이 아니라 촬영 카메라의 위치와 방향입니다. 이동거리와 회전각은 단위가 달라 정규화한 뒤 가중합으로 합칩니다. 시간은 오래될수록 감점하는 방식 대신 구간별 선택에 활용합니다. 서로 다른 시간 구간에서 현재 카메라 자세와 가까운 후보를 한 개씩 고르는 방식입니다.</a:t>
            </a:r>
          </a:p>
          <a:p xmlns:a="http://schemas.openxmlformats.org/drawingml/2006/main">
            <a:r>
              <a:t>최근 순서로 고르는 recent-K, 시간만 고려하는 time-distributed, 자세만 고려하는 pose-only, 둘을 결합한 pose+Δt를 비교합니다. 이를 통해 단순히 시간을 분산해서 좋아진 것인지, 자세 정보가 실제로 도움이 되었는지 확인합니다.</a:t>
            </a:r>
          </a:p>
          <a:p xmlns:a="http://schemas.openxmlformats.org/drawingml/2006/main">
            <a:r>
              <a:t>Virtual KITTI 2에서 같은 프레임을 누락시키고 같은 조건으로 실험합니다. 영역과 경계 정확도를 평균한 J&amp;F를 주 지표로 보고, 누락 뒤 회복까지 걸린 시간과 속도·메모리 비용도 함께 측정합니다. 특히 동적 차량과 자세 오차에서 효과가 약해지는지도 분석하겠습니다.</a:t>
            </a:r>
          </a:p>
          <a:p xmlns:a="http://schemas.openxmlformats.org/drawingml/2006/main">
            <a:r>
              <a:t/>
            </a:r>
          </a:p>
          <a:p xmlns:a="http://schemas.openxmlformats.org/drawingml/2006/main">
            <a:r>
              <a:t>설계 세부 및 질의 대응</a:t>
            </a:r>
          </a:p>
          <a:p xmlns:a="http://schemas.openxmlformats.org/drawingml/2006/main">
            <a:r>
              <a:t>K=7은 공간 마스크 메모리 슬롯 수이며 object pointer 등 별도 설정도 정책 간 동일하게 유지한다. 초기 후보가 부족하면 가용 과거 후보만 사용한다. 유지한 최초 프롬프트와 최근 메모리를 제외한 후보에서 중복 없이 5개를 선택한다. L 후보 큐의 최초 프롬프트 포함 여부 등 저장 규약은 구현 전 명시한다.</a:t>
            </a:r>
          </a:p>
          <a:p xmlns:a="http://schemas.openxmlformats.org/drawingml/2006/main">
            <a:r>
              <a:t>자세 정규화 dT′=clip(dT/sT,0,1), dR′=clip(dR/sR,0,1). sT,sR는 개발 데이터의 각 95백분위다. 시간 구간의 원본 프레임 경과량을 원본 FPS로 나누면 초 단위가 된다. time-distributed의 빈 구간은 자세를 사용하지 않는 시간 규칙으로 채워 비교군 의미를 보존한다. pose+Δt의 빈 구간은 남은 후보 중 최소 자세 비용으로 채운다.</a:t>
            </a:r>
          </a:p>
          <a:p xmlns:a="http://schemas.openxmlformats.org/drawingml/2006/main">
            <a:r>
              <a:t>모든 정책은 동일 후보 프레임을 제공받되 예측 마스크에 의존하는 메모리 특징은 각 정책에서 별도로 생성한다. 추가 SAM forward는 0회이며 검색·전송 비용은 실제 latency에 포함해 별도 측정한다. 누락한 프레임 자체는 정확도 평균에서 제외한다. GT 카메라 pose 활용은 오차 없는 기준 조건이며 실제 적용을 위해 자세 오차 민감도를 확인한다.</a:t>
            </a:r>
          </a:p>
          <a:p xmlns:a="http://schemas.openxmlformats.org/drawingml/2006/main">
            <a:r>
              <a:t>L=16·32·64 비교는 이번 발표 구성에서 제안한 보완 실험이다. 기존 상세안의 성공 기준안은 누락 조건 J&amp;F 2.0점 이상 개선 및 paired 95% 신뢰구간 하한&gt;0, 무손실 하락 0.5점 이하, 선택 연산 지연 증가 5% 이하다. 이는 실험 결과가 아니다.</a:t>
            </a:r>
          </a:p>
          <a:p xmlns:a="http://schemas.openxmlformats.org/drawingml/2006/main">
            <a:r>
              <a:t/>
            </a:r>
          </a:p>
          <a:p xmlns:a="http://schemas.openxmlformats.org/drawingml/2006/main">
            <a:r>
              <a:t>출처</a:t>
            </a:r>
          </a:p>
          <a:p xmlns:a="http://schemas.openxmlformats.org/drawingml/2006/main">
            <a:r>
              <a:t>최종 계획서: https://docs.google.com/document/d/1Telv7yFbf1a1D3gyKOevr1jM_yfBmk27YgC0010ZA5E/edit?tab=t.5i9fhfz6vfi1</a:t>
            </a:r>
          </a:p>
          <a:p xmlns:a="http://schemas.openxmlformats.org/drawingml/2006/main">
            <a:r>
              <a:t>선택식·시간 구간·회복 정의: 같은 문서의 추가안 B(t.2djdeb6v7msy) 상세 설계</a:t>
            </a:r>
          </a:p>
          <a:p xmlns:a="http://schemas.openxmlformats.org/drawingml/2006/main">
            <a:r>
              <a:t>공식 K=7 설정: https://github.com/facebookresearch/sam2/blob/main/sam2/configs/sam2.1/sam2.1_hiera_t.yaml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cee76998c447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e3e15ebf1c4b41" /><Relationship Type="http://schemas.openxmlformats.org/officeDocument/2006/relationships/slideLayout" Target="/ppt/slideLayouts/slideLayout1.xml" Id="R2dccfb12ced344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ccfb12ced344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b3c0cbcdb4e20" /><Relationship Type="http://schemas.openxmlformats.org/officeDocument/2006/relationships/notesSlide" Target="/ppt/notesSlides/notesSlide1.xml" Id="Rf7883c5a371b46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e738ce366b4a89" /><Relationship Type="http://schemas.openxmlformats.org/officeDocument/2006/relationships/notesSlide" Target="/ppt/notesSlides/notesSlide2.xml" Id="Rb51f96f551724285" /></Relationships>
</file>

<file path=ppt/slides/slide1.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sp>
        <p:nvSpPr>
          <p:cNvPr id="9" name="번호">
            <a:extLst xmlns:a="http://schemas.openxmlformats.org/drawingml/2006/main">
              <a:ext uri="{FF2B5EF4-FFF2-40B4-BE49-F238E27FC236}">
                <a16:creationId xmlns:a16="http://schemas.microsoft.com/office/drawing/2014/main" id="{55C577AE-D61C-4EB2-928C-887D6F6C41D1}"/>
              </a:ext>
            </a:extLst>
          </p:cNvPr>
          <p:cNvSpPr>
            <a:spLocks xmlns:a="http://schemas.openxmlformats.org/drawingml/2006/main" noGrp="1"/>
          </p:cNvSpPr>
          <p:nvPr/>
        </p:nvSpPr>
        <p:spPr>
          <a:xfrm xmlns:a="http://schemas.openxmlformats.org/drawingml/2006/main">
            <a:off x="514350" y="371475"/>
            <a:ext cx="657225" cy="581025"/>
          </a:xfrm>
          <a:prstGeom xmlns:a="http://schemas.openxmlformats.org/drawingml/2006/main" prst="rect">
            <a:avLst/>
          </a:prstGeom>
          <a:solidFill xmlns:a="http://schemas.openxmlformats.org/drawingml/2006/main">
            <a:srgbClr val="2462B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01</a:t>
            </a:r>
          </a:p>
        </p:txBody>
      </p:sp>
      <p:sp>
        <p:nvSpPr>
          <p:cNvPr id="2" name="슬라이드 제목">
            <a:extLst xmlns:a="http://schemas.openxmlformats.org/drawingml/2006/main">
              <a:ext uri="{FF2B5EF4-FFF2-40B4-BE49-F238E27FC236}">
                <a16:creationId xmlns:a16="http://schemas.microsoft.com/office/drawing/2014/main" id="{393CD6C7-7B94-4E93-B1E1-7057E13953B2}"/>
              </a:ext>
            </a:extLst>
          </p:cNvPr>
          <p:cNvSpPr>
            <a:spLocks xmlns:a="http://schemas.openxmlformats.org/drawingml/2006/main" noGrp="1"/>
          </p:cNvSpPr>
          <p:nvPr/>
        </p:nvSpPr>
        <p:spPr>
          <a:xfrm xmlns:a="http://schemas.openxmlformats.org/drawingml/2006/main">
            <a:off x="1362075" y="4095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2850" b="1">
                <a:solidFill>
                  <a:srgbClr val="17365E"/>
                </a:solidFill>
                <a:latin typeface="Malgun Gothic"/>
                <a:ea typeface="Malgun Gothic"/>
                <a:cs typeface="Malgun Gothic"/>
              </a:defRPr>
            </a:pPr>
            <a:r>
              <a:rPr sz="2850" b="1">
                <a:solidFill>
                  <a:srgbClr val="17365E"/>
                </a:solidFill>
                <a:latin typeface="Malgun Gothic"/>
                <a:ea typeface="Malgun Gothic"/>
                <a:cs typeface="Malgun Gothic"/>
              </a:rPr>
              <a:t>연구 동기와 선행연구 · 차별성</a:t>
            </a:r>
          </a:p>
        </p:txBody>
      </p:sp>
      <p:sp>
        <p:nvSpPr>
          <p:cNvPr id="3" name="본문 1">
            <a:extLst xmlns:a="http://schemas.openxmlformats.org/drawingml/2006/main">
              <a:ext uri="{FF2B5EF4-FFF2-40B4-BE49-F238E27FC236}">
                <a16:creationId xmlns:a16="http://schemas.microsoft.com/office/drawing/2014/main" id="{99D7116B-39B2-4F14-A73C-129685B8CB9F}"/>
              </a:ext>
            </a:extLst>
          </p:cNvPr>
          <p:cNvSpPr>
            <a:spLocks xmlns:a="http://schemas.openxmlformats.org/drawingml/2006/main" noGrp="1"/>
          </p:cNvSpPr>
          <p:nvPr/>
        </p:nvSpPr>
        <p:spPr>
          <a:xfrm xmlns:a="http://schemas.openxmlformats.org/drawingml/2006/main">
            <a:off x="533400" y="1266825"/>
            <a:ext cx="11144250" cy="565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94" b="0">
                <a:solidFill>
                  <a:srgbClr val="243248"/>
                </a:solidFill>
                <a:latin typeface="Malgun Gothic"/>
                <a:ea typeface="Malgun Gothic"/>
                <a:cs typeface="Malgun Gothic"/>
              </a:defRPr>
            </a:pPr>
            <a:r>
              <a:rPr sz="1594" b="1">
                <a:solidFill>
                  <a:srgbClr val="1D58A1"/>
                </a:solidFill>
                <a:latin typeface="Malgun Gothic"/>
                <a:ea typeface="Malgun Gothic"/>
                <a:cs typeface="Malgun Gothic"/>
              </a:rPr>
              <a:t>연구 주제.</a:t>
            </a:r>
            <a:r>
              <a:rPr sz="1594" b="0">
                <a:solidFill>
                  <a:srgbClr val="243248"/>
                </a:solidFill>
                <a:latin typeface="Malgun Gothic"/>
                <a:ea typeface="Malgun Gothic"/>
                <a:cs typeface="Malgun Gothic"/>
              </a:rPr>
              <a:t> 불규칙 프레임 손실 환경에서 차량 자세·경과시간 기반 SAM 2.1 메모리 선택을 연구한다. 같은 수의 과거</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메모리를 사용하면서 선택 기준을 바꾸면, 프레임 누락 이후 객체 분할 정확도와 회복 속도를 개선할 수 있는지 검증한다.</a:t>
            </a:r>
          </a:p>
        </p:txBody>
      </p:sp>
      <p:sp>
        <p:nvSpPr>
          <p:cNvPr id="4" name="본문 2">
            <a:extLst xmlns:a="http://schemas.openxmlformats.org/drawingml/2006/main">
              <a:ext uri="{FF2B5EF4-FFF2-40B4-BE49-F238E27FC236}">
                <a16:creationId xmlns:a16="http://schemas.microsoft.com/office/drawing/2014/main" id="{50A2388B-3C63-4D82-9E9F-F7E31495717E}"/>
              </a:ext>
            </a:extLst>
          </p:cNvPr>
          <p:cNvSpPr>
            <a:spLocks xmlns:a="http://schemas.openxmlformats.org/drawingml/2006/main" noGrp="1"/>
          </p:cNvSpPr>
          <p:nvPr/>
        </p:nvSpPr>
        <p:spPr>
          <a:xfrm xmlns:a="http://schemas.openxmlformats.org/drawingml/2006/main">
            <a:off x="533400" y="1956197"/>
            <a:ext cx="11144250" cy="1112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94" b="0">
                <a:solidFill>
                  <a:srgbClr val="243248"/>
                </a:solidFill>
                <a:latin typeface="Malgun Gothic"/>
                <a:ea typeface="Malgun Gothic"/>
                <a:cs typeface="Malgun Gothic"/>
              </a:defRPr>
            </a:pPr>
            <a:r>
              <a:rPr sz="1594" b="1">
                <a:solidFill>
                  <a:srgbClr val="1D58A1"/>
                </a:solidFill>
                <a:latin typeface="Malgun Gothic"/>
                <a:ea typeface="Malgun Gothic"/>
                <a:cs typeface="Malgun Gothic"/>
              </a:rPr>
              <a:t>연구 동기.</a:t>
            </a:r>
            <a:r>
              <a:rPr sz="1594" b="0">
                <a:solidFill>
                  <a:srgbClr val="243248"/>
                </a:solidFill>
                <a:latin typeface="Malgun Gothic"/>
                <a:ea typeface="Malgun Gothic"/>
                <a:cs typeface="Malgun Gothic"/>
              </a:rPr>
              <a:t> SAM 2.1은 과거 영상과 예측 마스크 정보를 메모리로 활용해 현재 객체 영역을 분할한다. 주행 중 전송</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지연·처리 부하로 영상이 누락되면 수신 순서와 실제 경과시간이 달라진다. 차량의 이동·회전까지 겹치면 최근 프레임이</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현재와 가장 비슷한 시야라는 보장은 없다. 이에 카메라의 위치·방향과 시간 간격을 반영해 과거 메모리를 선택하고자</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한다.</a:t>
            </a:r>
          </a:p>
        </p:txBody>
      </p:sp>
      <p:sp>
        <p:nvSpPr>
          <p:cNvPr id="5" name="본문 3">
            <a:extLst xmlns:a="http://schemas.openxmlformats.org/drawingml/2006/main">
              <a:ext uri="{FF2B5EF4-FFF2-40B4-BE49-F238E27FC236}">
                <a16:creationId xmlns:a16="http://schemas.microsoft.com/office/drawing/2014/main" id="{81F518B1-4C66-4370-91E0-B0E796F70145}"/>
              </a:ext>
            </a:extLst>
          </p:cNvPr>
          <p:cNvSpPr>
            <a:spLocks xmlns:a="http://schemas.openxmlformats.org/drawingml/2006/main" noGrp="1"/>
          </p:cNvSpPr>
          <p:nvPr/>
        </p:nvSpPr>
        <p:spPr>
          <a:xfrm xmlns:a="http://schemas.openxmlformats.org/drawingml/2006/main">
            <a:off x="533400" y="3192066"/>
            <a:ext cx="11144250" cy="838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94" b="0">
                <a:solidFill>
                  <a:srgbClr val="243248"/>
                </a:solidFill>
                <a:latin typeface="Malgun Gothic"/>
                <a:ea typeface="Malgun Gothic"/>
                <a:cs typeface="Malgun Gothic"/>
              </a:defRPr>
            </a:pPr>
            <a:r>
              <a:rPr sz="1594" b="1">
                <a:solidFill>
                  <a:srgbClr val="1D58A1"/>
                </a:solidFill>
                <a:latin typeface="Malgun Gothic"/>
                <a:ea typeface="Malgun Gothic"/>
                <a:cs typeface="Malgun Gothic"/>
              </a:rPr>
              <a:t>선행연구.</a:t>
            </a:r>
            <a:r>
              <a:rPr sz="1594" b="0">
                <a:solidFill>
                  <a:srgbClr val="243248"/>
                </a:solidFill>
                <a:latin typeface="Malgun Gothic"/>
                <a:ea typeface="Malgun Gothic"/>
                <a:cs typeface="Malgun Gothic"/>
              </a:rPr>
              <a:t> SAM4D(ICCV 2025)는 카메라·LiDAR 정보와 자차 움직임 보정을 결합한다. SAM2-Splat(RA-L 2025)은 온라인</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3D Gaussian 메모리로 분할을 보완한다. Seg2Track-SAM2(2025)는 검출기와 SAM 2를 결합하고 sliding-window 방식으로</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과거 메모리를 관리한다. TSMS-SAM2(2025)는 수술 영상에서 다중 시간 간격 샘플링과 메모리 분할·가지치기를 다룬다.</a:t>
            </a:r>
          </a:p>
        </p:txBody>
      </p:sp>
      <p:sp>
        <p:nvSpPr>
          <p:cNvPr id="6" name="본문 4">
            <a:extLst xmlns:a="http://schemas.openxmlformats.org/drawingml/2006/main">
              <a:ext uri="{FF2B5EF4-FFF2-40B4-BE49-F238E27FC236}">
                <a16:creationId xmlns:a16="http://schemas.microsoft.com/office/drawing/2014/main" id="{0B5425BE-0590-4DC6-A51F-436166E38E51}"/>
              </a:ext>
            </a:extLst>
          </p:cNvPr>
          <p:cNvSpPr>
            <a:spLocks xmlns:a="http://schemas.openxmlformats.org/drawingml/2006/main" noGrp="1"/>
          </p:cNvSpPr>
          <p:nvPr/>
        </p:nvSpPr>
        <p:spPr>
          <a:xfrm xmlns:a="http://schemas.openxmlformats.org/drawingml/2006/main">
            <a:off x="533400" y="4154686"/>
            <a:ext cx="11144250" cy="838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94" b="0">
                <a:solidFill>
                  <a:srgbClr val="243248"/>
                </a:solidFill>
                <a:latin typeface="Malgun Gothic"/>
                <a:ea typeface="Malgun Gothic"/>
                <a:cs typeface="Malgun Gothic"/>
              </a:defRPr>
            </a:pPr>
            <a:r>
              <a:rPr sz="1594" b="1">
                <a:solidFill>
                  <a:srgbClr val="1D58A1"/>
                </a:solidFill>
                <a:latin typeface="Malgun Gothic"/>
                <a:ea typeface="Malgun Gothic"/>
                <a:cs typeface="Malgun Gothic"/>
              </a:rPr>
              <a:t>차별성.</a:t>
            </a:r>
            <a:r>
              <a:rPr sz="1594" b="0">
                <a:solidFill>
                  <a:srgbClr val="243248"/>
                </a:solidFill>
                <a:latin typeface="Malgun Gothic"/>
                <a:ea typeface="Malgun Gothic"/>
                <a:cs typeface="Malgun Gothic"/>
              </a:rPr>
              <a:t> 본 연구는 기존 SAM 2.1의 활성 메모리 K=7과 추론 횟수를 고정하고, 불규칙 누락 조건에서 자세 유사성·시간적</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다양성에 따른 선택 효과를 비교한다. 추가 학습·LiDAR 융합·3D 메모리 구축 없이 과거 메모리를 고르는 규칙을 바꾼다.</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시간만 사용하는 방법, 자세만 사용하는 방법과 비교하여 성능 향상의 원인을 분리한다.</a:t>
            </a:r>
          </a:p>
        </p:txBody>
      </p:sp>
      <p:sp>
        <p:nvSpPr>
          <p:cNvPr id="7" name="본문 5">
            <a:extLst xmlns:a="http://schemas.openxmlformats.org/drawingml/2006/main">
              <a:ext uri="{FF2B5EF4-FFF2-40B4-BE49-F238E27FC236}">
                <a16:creationId xmlns:a16="http://schemas.microsoft.com/office/drawing/2014/main" id="{599A17A7-A13C-49CC-840C-763DF80F2DC4}"/>
              </a:ext>
            </a:extLst>
          </p:cNvPr>
          <p:cNvSpPr>
            <a:spLocks xmlns:a="http://schemas.openxmlformats.org/drawingml/2006/main" noGrp="1"/>
          </p:cNvSpPr>
          <p:nvPr/>
        </p:nvSpPr>
        <p:spPr>
          <a:xfrm xmlns:a="http://schemas.openxmlformats.org/drawingml/2006/main">
            <a:off x="533400" y="5117306"/>
            <a:ext cx="11144250" cy="838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94" b="0">
                <a:solidFill>
                  <a:srgbClr val="243248"/>
                </a:solidFill>
                <a:latin typeface="Malgun Gothic"/>
                <a:ea typeface="Malgun Gothic"/>
                <a:cs typeface="Malgun Gothic"/>
              </a:defRPr>
            </a:pPr>
            <a:r>
              <a:rPr sz="1594" b="1">
                <a:solidFill>
                  <a:srgbClr val="1D58A1"/>
                </a:solidFill>
                <a:latin typeface="Malgun Gothic"/>
                <a:ea typeface="Malgun Gothic"/>
                <a:cs typeface="Malgun Gothic"/>
              </a:rPr>
              <a:t>가설과 적용 범위.</a:t>
            </a:r>
            <a:r>
              <a:rPr sz="1594" b="0">
                <a:solidFill>
                  <a:srgbClr val="243248"/>
                </a:solidFill>
                <a:latin typeface="Malgun Gothic"/>
                <a:ea typeface="Malgun Gothic"/>
                <a:cs typeface="Malgun Gothic"/>
              </a:rPr>
              <a:t> 현재 카메라 자세와 가깝고 여러 시간 구간에 분산된 메모리가 recent-K보다 누락 이후 분할과 회복에</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유리할 것으로 예상한다. 다만 카메라 자세가 비슷해도 대상 차량은 독립적으로 이동할 수 있으므로, 정적·저속 차량과</a:t>
            </a:r>
          </a:p>
          <a:p xmlns:a="http://schemas.openxmlformats.org/drawingml/2006/main">
            <a:pPr>
              <a:lnSpc>
                <a:spcPct val="105000"/>
              </a:lnSpc>
              <a:buNone/>
              <a:defRPr sz="1594" b="0">
                <a:solidFill>
                  <a:srgbClr val="243248"/>
                </a:solidFill>
                <a:latin typeface="Malgun Gothic"/>
                <a:ea typeface="Malgun Gothic"/>
                <a:cs typeface="Malgun Gothic"/>
              </a:defRPr>
            </a:pPr>
            <a:r>
              <a:rPr sz="1594" b="0">
                <a:solidFill>
                  <a:srgbClr val="243248"/>
                </a:solidFill>
                <a:latin typeface="Malgun Gothic"/>
                <a:ea typeface="Malgun Gothic"/>
                <a:cs typeface="Malgun Gothic"/>
              </a:rPr>
              <a:t>이동 차량을 나누어 효과와 한계를 분석한다.</a:t>
            </a:r>
          </a:p>
        </p:txBody>
      </p:sp>
      <p:sp>
        <p:nvSpPr>
          <p:cNvPr id="8" name="발표자">
            <a:extLst xmlns:a="http://schemas.openxmlformats.org/drawingml/2006/main">
              <a:ext uri="{FF2B5EF4-FFF2-40B4-BE49-F238E27FC236}">
                <a16:creationId xmlns:a16="http://schemas.microsoft.com/office/drawing/2014/main" id="{6F7F7C13-41B8-4C7E-B776-882954BEB8C1}"/>
              </a:ext>
            </a:extLst>
          </p:cNvPr>
          <p:cNvSpPr>
            <a:spLocks xmlns:a="http://schemas.openxmlformats.org/drawingml/2006/main" noGrp="1"/>
          </p:cNvSpPr>
          <p:nvPr/>
        </p:nvSpPr>
        <p:spPr>
          <a:xfrm xmlns:a="http://schemas.openxmlformats.org/drawingml/2006/main">
            <a:off x="5334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900" b="0">
                <a:solidFill>
                  <a:srgbClr val="66809E"/>
                </a:solidFill>
                <a:latin typeface="Malgun Gothic"/>
                <a:ea typeface="Malgun Gothic"/>
                <a:cs typeface="Malgun Gothic"/>
              </a:defRPr>
            </a:pPr>
            <a:r>
              <a:rPr sz="900" b="0">
                <a:solidFill>
                  <a:srgbClr val="66809E"/>
                </a:solidFill>
                <a:latin typeface="Malgun Gothic"/>
                <a:ea typeface="Malgun Gothic"/>
                <a:cs typeface="Malgun Gothic"/>
              </a:rPr>
              <a:t>과제연구 계획 발표   박서준 · 이모현</a:t>
            </a:r>
          </a:p>
        </p:txBody>
      </p:sp>
    </p:spTree>
    <p:extLst>
      <p:ext uri="{BB962C8B-B14F-4D97-AF65-F5344CB8AC3E}">
        <p14:creationId xmlns:p14="http://schemas.microsoft.com/office/powerpoint/2010/main" val="1752710019"/>
      </p:ext>
    </p:extLst>
  </p:cSld>
</p:sld>
</file>

<file path=ppt/slides/slide2.xml><?xml version="1.0" encoding="utf-8"?>
<p:sld xmlns:p="http://schemas.openxmlformats.org/presentationml/2006/main">
  <p:cSld>
    <p:bg>
      <p:bgPr>
        <a:solidFill xmlns:a="http://schemas.openxmlformats.org/drawingml/2006/main">
          <a:srgbClr val="F3F7FC"/>
        </a:solidFill>
      </p:bgPr>
    </p:bg>
    <p:spTree>
      <p:nvGrpSpPr>
        <p:cNvPr id="1" name=""/>
        <p:cNvGrpSpPr/>
        <p:nvPr/>
      </p:nvGrpSpPr>
      <p:grpSpPr>
        <a:xfrm xmlns:a="http://schemas.openxmlformats.org/drawingml/2006/main"/>
      </p:grpSpPr>
      <p:sp>
        <p:nvSpPr>
          <p:cNvPr id="9" name="번호">
            <a:extLst xmlns:a="http://schemas.openxmlformats.org/drawingml/2006/main">
              <a:ext uri="{FF2B5EF4-FFF2-40B4-BE49-F238E27FC236}">
                <a16:creationId xmlns:a16="http://schemas.microsoft.com/office/drawing/2014/main" id="{0E4DD3D4-8C07-46A8-84AE-4C05D330570F}"/>
              </a:ext>
            </a:extLst>
          </p:cNvPr>
          <p:cNvSpPr>
            <a:spLocks xmlns:a="http://schemas.openxmlformats.org/drawingml/2006/main" noGrp="1"/>
          </p:cNvSpPr>
          <p:nvPr/>
        </p:nvSpPr>
        <p:spPr>
          <a:xfrm xmlns:a="http://schemas.openxmlformats.org/drawingml/2006/main">
            <a:off x="514350" y="371475"/>
            <a:ext cx="657225" cy="581025"/>
          </a:xfrm>
          <a:prstGeom xmlns:a="http://schemas.openxmlformats.org/drawingml/2006/main" prst="rect">
            <a:avLst/>
          </a:prstGeom>
          <a:solidFill xmlns:a="http://schemas.openxmlformats.org/drawingml/2006/main">
            <a:srgbClr val="2462B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02</a:t>
            </a:r>
          </a:p>
        </p:txBody>
      </p:sp>
      <p:sp>
        <p:nvSpPr>
          <p:cNvPr id="2" name="슬라이드 제목">
            <a:extLst xmlns:a="http://schemas.openxmlformats.org/drawingml/2006/main">
              <a:ext uri="{FF2B5EF4-FFF2-40B4-BE49-F238E27FC236}">
                <a16:creationId xmlns:a16="http://schemas.microsoft.com/office/drawing/2014/main" id="{C51703E1-9865-445A-91F3-C25733AE1F21}"/>
              </a:ext>
            </a:extLst>
          </p:cNvPr>
          <p:cNvSpPr>
            <a:spLocks xmlns:a="http://schemas.openxmlformats.org/drawingml/2006/main" noGrp="1"/>
          </p:cNvSpPr>
          <p:nvPr/>
        </p:nvSpPr>
        <p:spPr>
          <a:xfrm xmlns:a="http://schemas.openxmlformats.org/drawingml/2006/main">
            <a:off x="1362075" y="4095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2850" b="1">
                <a:solidFill>
                  <a:srgbClr val="17365E"/>
                </a:solidFill>
                <a:latin typeface="Malgun Gothic"/>
                <a:ea typeface="Malgun Gothic"/>
                <a:cs typeface="Malgun Gothic"/>
              </a:defRPr>
            </a:pPr>
            <a:r>
              <a:rPr sz="2850" b="1">
                <a:solidFill>
                  <a:srgbClr val="17365E"/>
                </a:solidFill>
                <a:latin typeface="Malgun Gothic"/>
                <a:ea typeface="Malgun Gothic"/>
                <a:cs typeface="Malgun Gothic"/>
              </a:rPr>
              <a:t>메모리 선택 방법과 실험 설계</a:t>
            </a:r>
          </a:p>
        </p:txBody>
      </p:sp>
      <p:sp>
        <p:nvSpPr>
          <p:cNvPr id="3" name="본문 1">
            <a:extLst xmlns:a="http://schemas.openxmlformats.org/drawingml/2006/main">
              <a:ext uri="{FF2B5EF4-FFF2-40B4-BE49-F238E27FC236}">
                <a16:creationId xmlns:a16="http://schemas.microsoft.com/office/drawing/2014/main" id="{25D2F2D5-6FCB-43C5-A2FF-ED5C58E9B752}"/>
              </a:ext>
            </a:extLst>
          </p:cNvPr>
          <p:cNvSpPr>
            <a:spLocks xmlns:a="http://schemas.openxmlformats.org/drawingml/2006/main" noGrp="1"/>
          </p:cNvSpPr>
          <p:nvPr/>
        </p:nvSpPr>
        <p:spPr>
          <a:xfrm xmlns:a="http://schemas.openxmlformats.org/drawingml/2006/main">
            <a:off x="533400" y="1266825"/>
            <a:ext cx="11144250" cy="809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38" b="0">
                <a:solidFill>
                  <a:srgbClr val="243248"/>
                </a:solidFill>
                <a:latin typeface="Malgun Gothic"/>
                <a:ea typeface="Malgun Gothic"/>
                <a:cs typeface="Malgun Gothic"/>
              </a:defRPr>
            </a:pPr>
            <a:r>
              <a:rPr sz="1538" b="1">
                <a:solidFill>
                  <a:srgbClr val="1D58A1"/>
                </a:solidFill>
                <a:latin typeface="Malgun Gothic"/>
                <a:ea typeface="Malgun Gothic"/>
                <a:cs typeface="Malgun Gothic"/>
              </a:rPr>
              <a:t>메모리 구성과 설정 근거.</a:t>
            </a:r>
            <a:r>
              <a:rPr sz="1538" b="0">
                <a:solidFill>
                  <a:srgbClr val="243248"/>
                </a:solidFill>
                <a:latin typeface="Malgun Gothic"/>
                <a:ea typeface="Malgun Gothic"/>
                <a:cs typeface="Malgun Gothic"/>
              </a:rPr>
              <a:t> CPU 후보 큐 L=32에서 최초 프롬프트 1개와 가장 최근 수신 메모리 1개를 유지하고, 나머지 5개를</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골라 총 K=7개를 참조한다. K=7은 공식 SAM 2.1 기본값을 유지한 것이며, L=32는 탐색 범위와 비용을 고려해 검증할</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초기값이다. 보완 실험안으로 개발 데이터에서 L=16·32·64를 비교한다. 현재 프레임은 예측 완료 후 후보에 추가한다.</a:t>
            </a:r>
          </a:p>
        </p:txBody>
      </p:sp>
      <p:sp>
        <p:nvSpPr>
          <p:cNvPr id="4" name="본문 2">
            <a:extLst xmlns:a="http://schemas.openxmlformats.org/drawingml/2006/main">
              <a:ext uri="{FF2B5EF4-FFF2-40B4-BE49-F238E27FC236}">
                <a16:creationId xmlns:a16="http://schemas.microsoft.com/office/drawing/2014/main" id="{EABC6CA4-994E-4769-9B91-9FD11118AC36}"/>
              </a:ext>
            </a:extLst>
          </p:cNvPr>
          <p:cNvSpPr>
            <a:spLocks xmlns:a="http://schemas.openxmlformats.org/drawingml/2006/main" noGrp="1"/>
          </p:cNvSpPr>
          <p:nvPr/>
        </p:nvSpPr>
        <p:spPr>
          <a:xfrm xmlns:a="http://schemas.openxmlformats.org/drawingml/2006/main">
            <a:off x="533400" y="2200513"/>
            <a:ext cx="11144250" cy="809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38" b="0">
                <a:solidFill>
                  <a:srgbClr val="243248"/>
                </a:solidFill>
                <a:latin typeface="Malgun Gothic"/>
                <a:ea typeface="Malgun Gothic"/>
                <a:cs typeface="Malgun Gothic"/>
              </a:defRPr>
            </a:pPr>
            <a:r>
              <a:rPr sz="1538" b="1">
                <a:solidFill>
                  <a:srgbClr val="1D58A1"/>
                </a:solidFill>
                <a:latin typeface="Malgun Gothic"/>
                <a:ea typeface="Malgun Gothic"/>
                <a:cs typeface="Malgun Gothic"/>
              </a:rPr>
              <a:t>자세와 시간의 결합.</a:t>
            </a:r>
            <a:r>
              <a:rPr sz="1538" b="0">
                <a:solidFill>
                  <a:srgbClr val="243248"/>
                </a:solidFill>
                <a:latin typeface="Malgun Gothic"/>
                <a:ea typeface="Malgun Gothic"/>
                <a:cs typeface="Malgun Gothic"/>
              </a:rPr>
              <a:t> pose는 촬영 카메라의 3차원 위치·방향이며, Δt는 수신 순번이 아닌 실제 경과시간이다. 자세 비용</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Cᵢ=wT·dTᵢ′+wR·dRᵢ′(wT+wR=1)로 이동거리와 상대 회전각을 합친다. 각 값은 개발 데이터의 95백분위로 나눠 0~1로</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제한한다. 시간 구간마다 비용이 가장 작은 후보를 선택하며, 가중치·구간은 개발 데이터에서 확정한 뒤 시험에서는 고정한다.</a:t>
            </a:r>
          </a:p>
        </p:txBody>
      </p:sp>
      <p:sp>
        <p:nvSpPr>
          <p:cNvPr id="5" name="본문 3">
            <a:extLst xmlns:a="http://schemas.openxmlformats.org/drawingml/2006/main">
              <a:ext uri="{FF2B5EF4-FFF2-40B4-BE49-F238E27FC236}">
                <a16:creationId xmlns:a16="http://schemas.microsoft.com/office/drawing/2014/main" id="{9C6D5E85-45A4-4797-96F0-58135634EB94}"/>
              </a:ext>
            </a:extLst>
          </p:cNvPr>
          <p:cNvSpPr>
            <a:spLocks xmlns:a="http://schemas.openxmlformats.org/drawingml/2006/main" noGrp="1"/>
          </p:cNvSpPr>
          <p:nvPr/>
        </p:nvSpPr>
        <p:spPr>
          <a:xfrm xmlns:a="http://schemas.openxmlformats.org/drawingml/2006/main">
            <a:off x="533400" y="3134201"/>
            <a:ext cx="11144250" cy="1073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38" b="0">
                <a:solidFill>
                  <a:srgbClr val="243248"/>
                </a:solidFill>
                <a:latin typeface="Malgun Gothic"/>
                <a:ea typeface="Malgun Gothic"/>
                <a:cs typeface="Malgun Gothic"/>
              </a:defRPr>
            </a:pPr>
            <a:r>
              <a:rPr sz="1538" b="1">
                <a:solidFill>
                  <a:srgbClr val="1D58A1"/>
                </a:solidFill>
                <a:latin typeface="Malgun Gothic"/>
                <a:ea typeface="Malgun Gothic"/>
                <a:cs typeface="Malgun Gothic"/>
              </a:rPr>
              <a:t>네 가지 비교군.</a:t>
            </a:r>
            <a:r>
              <a:rPr sz="1538" b="0">
                <a:solidFill>
                  <a:srgbClr val="243248"/>
                </a:solidFill>
                <a:latin typeface="Malgun Gothic"/>
                <a:ea typeface="Malgun Gothic"/>
                <a:cs typeface="Malgun Gothic"/>
              </a:rPr>
              <a:t> recent-K는 최근 순서로, time-distributed는 시간 구간별 대표 후보를, pose-only는 시간 구분 없이 자세</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비용이 작은 후보를 고른다. pose+Δt는 각 시간 구간에서 자세 비용이 가장 작은 후보를 고른다. 공통으로 2개를 유지하고</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5개만 바꿔 시간 분산·자세 유사성·결합 효과를 비교한다. 구간 초기안은 원본 프레임 경과량 1~2, 3~5, 6~10, 11~20, 21</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이상이다.</a:t>
            </a:r>
          </a:p>
        </p:txBody>
      </p:sp>
      <p:sp>
        <p:nvSpPr>
          <p:cNvPr id="6" name="본문 4">
            <a:extLst xmlns:a="http://schemas.openxmlformats.org/drawingml/2006/main">
              <a:ext uri="{FF2B5EF4-FFF2-40B4-BE49-F238E27FC236}">
                <a16:creationId xmlns:a16="http://schemas.microsoft.com/office/drawing/2014/main" id="{26FE9859-0973-4A94-B102-32A0A8EBAF1A}"/>
              </a:ext>
            </a:extLst>
          </p:cNvPr>
          <p:cNvSpPr>
            <a:spLocks xmlns:a="http://schemas.openxmlformats.org/drawingml/2006/main" noGrp="1"/>
          </p:cNvSpPr>
          <p:nvPr/>
        </p:nvSpPr>
        <p:spPr>
          <a:xfrm xmlns:a="http://schemas.openxmlformats.org/drawingml/2006/main">
            <a:off x="533400" y="4331494"/>
            <a:ext cx="11144250" cy="809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38" b="0">
                <a:solidFill>
                  <a:srgbClr val="243248"/>
                </a:solidFill>
                <a:latin typeface="Malgun Gothic"/>
                <a:ea typeface="Malgun Gothic"/>
                <a:cs typeface="Malgun Gothic"/>
              </a:defRPr>
            </a:pPr>
            <a:r>
              <a:rPr sz="1538" b="1">
                <a:solidFill>
                  <a:srgbClr val="1D58A1"/>
                </a:solidFill>
                <a:latin typeface="Malgun Gothic"/>
                <a:ea typeface="Malgun Gothic"/>
                <a:cs typeface="Malgun Gothic"/>
              </a:rPr>
              <a:t>자료와 통제 조건.</a:t>
            </a:r>
            <a:r>
              <a:rPr sz="1538" b="0">
                <a:solidFill>
                  <a:srgbClr val="243248"/>
                </a:solidFill>
                <a:latin typeface="Malgun Gothic"/>
                <a:ea typeface="Malgun Gothic"/>
                <a:cs typeface="Malgun Gothic"/>
              </a:rPr>
              <a:t> Virtual KITTI 2에 균일·무작위 누락과 2·4·8프레임 연속 누락(burst)을 합성하고 무손실 결과와 비교한다.</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모델·해상도·객체·수신 프레임·손실 위치·seed·하드웨어·K·L을 통제한다. 최초 정답 마스크 이후의 정답 마스크, 대상 차량 GT</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pose와 미래 프레임은 선택 입력에 사용하지 않는다.</a:t>
            </a:r>
          </a:p>
        </p:txBody>
      </p:sp>
      <p:sp>
        <p:nvSpPr>
          <p:cNvPr id="7" name="본문 5">
            <a:extLst xmlns:a="http://schemas.openxmlformats.org/drawingml/2006/main">
              <a:ext uri="{FF2B5EF4-FFF2-40B4-BE49-F238E27FC236}">
                <a16:creationId xmlns:a16="http://schemas.microsoft.com/office/drawing/2014/main" id="{9FF41DCB-292A-4D05-A8AC-8C89F1EEEA57}"/>
              </a:ext>
            </a:extLst>
          </p:cNvPr>
          <p:cNvSpPr>
            <a:spLocks xmlns:a="http://schemas.openxmlformats.org/drawingml/2006/main" noGrp="1"/>
          </p:cNvSpPr>
          <p:nvPr/>
        </p:nvSpPr>
        <p:spPr>
          <a:xfrm xmlns:a="http://schemas.openxmlformats.org/drawingml/2006/main">
            <a:off x="533400" y="5265182"/>
            <a:ext cx="11144250" cy="1073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1538" b="0">
                <a:solidFill>
                  <a:srgbClr val="243248"/>
                </a:solidFill>
                <a:latin typeface="Malgun Gothic"/>
                <a:ea typeface="Malgun Gothic"/>
                <a:cs typeface="Malgun Gothic"/>
              </a:defRPr>
            </a:pPr>
            <a:r>
              <a:rPr sz="1538" b="1">
                <a:solidFill>
                  <a:srgbClr val="1D58A1"/>
                </a:solidFill>
                <a:latin typeface="Malgun Gothic"/>
                <a:ea typeface="Malgun Gothic"/>
                <a:cs typeface="Malgun Gothic"/>
              </a:rPr>
              <a:t>평가와 종합 판정.</a:t>
            </a:r>
            <a:r>
              <a:rPr sz="1538" b="0">
                <a:solidFill>
                  <a:srgbClr val="243248"/>
                </a:solidFill>
                <a:latin typeface="Malgun Gothic"/>
                <a:ea typeface="Malgun Gothic"/>
                <a:cs typeface="Malgun Gothic"/>
              </a:rPr>
              <a:t> 정확도는 J&amp;F=(영역 겹침 J+경계 정확도 F)/2와 recent-K 대비 ΔJ&amp;F로 평가한다. 회복은 burst 후 J≥0.5를</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2개 수신 프레임에서 연속 유지하는 최초 시점으로 정의하고, 회복 프레임 수·초와 상실률·회복률을 측정한다. 정확도 향상을</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주 기준으로 회복성 개선과 FPS·지연·GPU/CPU 메모리 비용을 함께 판단하며, 자세 오차와 객체 움직임에 따른 한계를</a:t>
            </a:r>
          </a:p>
          <a:p xmlns:a="http://schemas.openxmlformats.org/drawingml/2006/main">
            <a:pPr>
              <a:lnSpc>
                <a:spcPct val="105000"/>
              </a:lnSpc>
              <a:buNone/>
              <a:defRPr sz="1538" b="0">
                <a:solidFill>
                  <a:srgbClr val="243248"/>
                </a:solidFill>
                <a:latin typeface="Malgun Gothic"/>
                <a:ea typeface="Malgun Gothic"/>
                <a:cs typeface="Malgun Gothic"/>
              </a:defRPr>
            </a:pPr>
            <a:r>
              <a:rPr sz="1538" b="0">
                <a:solidFill>
                  <a:srgbClr val="243248"/>
                </a:solidFill>
                <a:latin typeface="Malgun Gothic"/>
                <a:ea typeface="Malgun Gothic"/>
                <a:cs typeface="Malgun Gothic"/>
              </a:rPr>
              <a:t>분석한다.</a:t>
            </a:r>
          </a:p>
        </p:txBody>
      </p:sp>
      <p:sp>
        <p:nvSpPr>
          <p:cNvPr id="8" name="발표자">
            <a:extLst xmlns:a="http://schemas.openxmlformats.org/drawingml/2006/main">
              <a:ext uri="{FF2B5EF4-FFF2-40B4-BE49-F238E27FC236}">
                <a16:creationId xmlns:a16="http://schemas.microsoft.com/office/drawing/2014/main" id="{C42F8EC0-F5A1-4124-9216-C2025EAA12D6}"/>
              </a:ext>
            </a:extLst>
          </p:cNvPr>
          <p:cNvSpPr>
            <a:spLocks xmlns:a="http://schemas.openxmlformats.org/drawingml/2006/main" noGrp="1"/>
          </p:cNvSpPr>
          <p:nvPr/>
        </p:nvSpPr>
        <p:spPr>
          <a:xfrm xmlns:a="http://schemas.openxmlformats.org/drawingml/2006/main">
            <a:off x="533400" y="654367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5000"/>
              </a:lnSpc>
              <a:buNone/>
              <a:defRPr sz="900" b="0">
                <a:solidFill>
                  <a:srgbClr val="66809E"/>
                </a:solidFill>
                <a:latin typeface="Malgun Gothic"/>
                <a:ea typeface="Malgun Gothic"/>
                <a:cs typeface="Malgun Gothic"/>
              </a:defRPr>
            </a:pPr>
            <a:r>
              <a:rPr sz="900" b="0">
                <a:solidFill>
                  <a:srgbClr val="66809E"/>
                </a:solidFill>
                <a:latin typeface="Malgun Gothic"/>
                <a:ea typeface="Malgun Gothic"/>
                <a:cs typeface="Malgun Gothic"/>
              </a:rPr>
              <a:t>과제연구 계획 발표   박서준 · 이모현</a:t>
            </a:r>
          </a:p>
        </p:txBody>
      </p:sp>
    </p:spTree>
    <p:extLst>
      <p:ext uri="{BB962C8B-B14F-4D97-AF65-F5344CB8AC3E}">
        <p14:creationId xmlns:p14="http://schemas.microsoft.com/office/powerpoint/2010/main" val="171755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2026-09-06T02:39:50.7650000Z</dcterms:created>
  <dcterms:modified xsi:type="dcterms:W3CDTF">2026-09-06T02:39:50.7650000Z</dcterms:modified>
</coreProperties>
</file>